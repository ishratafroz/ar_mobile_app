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300" r:id="rId8"/>
    <p:sldId id="264" r:id="rId9"/>
    <p:sldId id="262" r:id="rId10"/>
    <p:sldId id="26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422" y="4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327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AR Diet Monitoring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62000" y="2651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Privacy-first update: fully on-device AI food recognition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 &amp; Scope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66751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privacy-preserving real-time diet monitoring with on-device AI 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capabilities delivered:</a:t>
            </a:r>
            <a:endParaRPr lang="en-US" sz="1500" dirty="0"/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dish recognition — a 2,024-food TFLite classifier (Google AIY) identifies the meal locally.</a:t>
            </a:r>
            <a:endParaRPr lang="en-US" sz="1500" dirty="0"/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detection + counting — an SSD box detector finds items and counts them (e.g., 3 × apple).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resolves nutrition from an offline table — zero network calls; USDA is used only for typed text queries (PICK).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fallbacks so a scan is never a dead end.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99248" y="152704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33488" y="1371600"/>
            <a:ext cx="4160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33488" y="1371600"/>
            <a:ext cx="82296" cy="2194560"/>
          </a:xfrm>
          <a:prstGeom prst="rect">
            <a:avLst/>
          </a:prstGeom>
          <a:solidFill>
            <a:srgbClr val="12B5A5"/>
          </a:solidFill>
          <a:ln w="12700">
            <a:solidFill>
              <a:srgbClr val="12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534656" y="1481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34656" y="1828800"/>
            <a:ext cx="3794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real-time diet monitoring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on-device CV + nutrition in AR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82296" cy="2240280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Two local TFLite models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LocalFoodClassifier.js · FoodBoxDetector.js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dish classifier (2,024 foods) + SSD box detector (counts items)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classifyFoodLocal() + detectFoodBoxes() via react-native-fast-tflite (JSI)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offline — the image never leaves the phone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5661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0" y="1371600"/>
            <a:ext cx="82296" cy="2240280"/>
          </a:xfrm>
          <a:prstGeom prst="rect">
            <a:avLst/>
          </a:prstGeom>
          <a:solidFill>
            <a:srgbClr val="12B5A5"/>
          </a:solidFill>
          <a:ln w="12700">
            <a:solidFill>
              <a:srgbClr val="12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98848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flow rewired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182880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App.js onScan() = on-device only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 capture via device camera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nutrition table (~70 foods) + fuzzy match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foods still shown, with confidence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37160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82296" cy="2240280"/>
          </a:xfrm>
          <a:prstGeom prst="rect">
            <a:avLst/>
          </a:prstGeom>
          <a:solidFill>
            <a:srgbClr val="44CC44"/>
          </a:solidFill>
          <a:ln w="12700">
            <a:solidFill>
              <a:srgbClr val="44CC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47888" y="14813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portion shown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47888" y="1828800"/>
            <a:ext cx="3246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overlay panel: "Portion ~Xg (Y kcal)"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Bottom bar: kcal / g summary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Details: scanned photo + counted items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Recognized by: On-device AI (xx%)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82296" cy="2194560"/>
          </a:xfrm>
          <a:prstGeom prst="rect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9808" y="390448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hardening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9808" y="42519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&amp; Google Vision code paths deleted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makes zero network calls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USDA only for typed text lookups (PICK)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9476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82296" cy="2194560"/>
          </a:xfrm>
          <a:prstGeom prst="rect">
            <a:avLst/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98848" y="390448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added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42519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react-native-fast-tflite + jpeg-js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JSI inference + on-device JPEG decode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Autolinked, APK rebuilt &amp; installed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47888" y="39044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47888" y="425196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Data Flow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camera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 a still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33472" y="208483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2"/>
                </a:solidFill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80360" y="1828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12B5A5"/>
          </a:solidFill>
          <a:ln w="12700">
            <a:solidFill>
              <a:srgbClr val="12B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80360" y="193852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On-device AI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80360" y="22402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classifier names dish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detector counts items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10912" y="208483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2"/>
                </a:solidFill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57800" y="1828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44CC44"/>
          </a:solidFill>
          <a:ln w="12700">
            <a:solidFill>
              <a:srgbClr val="44CC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57800" y="193852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Offline table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57800" y="22402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per-100g macros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typical serving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88352" y="208483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2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35240" y="1828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635240" y="193852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Risk + GI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35240" y="22402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glycemic index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765792" y="2084832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2"/>
                </a:solidFill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12680" y="1828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12680" y="193852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AR Overlay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12680" y="22402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pinned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AF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camera view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3063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 chain if a step has no result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Food not in the offline table → shown as UNKNOWN with a one-tap USDA text search (name only).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E7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Portion = typical serving × detected item count; AR-geometry grams estimation is in progress.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Problem Solved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1F1"/>
          </a:solidFill>
          <a:ln w="12700">
            <a:solidFill>
              <a:srgbClr val="F3B5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28800"/>
            <a:ext cx="5029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 photos were uploaded to Google servers for recognition.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privacy risk for users and for human-subjects research (Goal 3).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dependence: no offline use; API rate limits.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FFAF0"/>
          </a:solidFill>
          <a:ln w="12700">
            <a:solidFill>
              <a:srgbClr val="AEE0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7E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182880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Recognition ran in the cloud (Gemini multimodal).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scan meant an image upload to external servers.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Privacy/IRB expectations require meal images to stay on the device.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109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95020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29768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Replaced cloud AI with two local TFLite models (dish classifier + box detector) running on the phone via JSI.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cloud-vision code deleted — SCAN works in airplane mode.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E7E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Photos stay in app-private storage — nothing ever leaves the phone.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On Device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65836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&amp; installed on Moto G 5G (Android 15); ARCore active; camera permission granted.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TFLite models verified live on-device (192×192 classifier · SSD box detector).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scan returns recognition + portion + GI + risk — fully offline: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0" y="1463040"/>
            <a:ext cx="4343400" cy="3108960"/>
          </a:xfrm>
          <a:prstGeom prst="roundRect">
            <a:avLst>
              <a:gd name="adj" fmla="val 2941"/>
            </a:avLst>
          </a:prstGeom>
          <a:solidFill>
            <a:srgbClr val="1A1F29"/>
          </a:solidFill>
          <a:ln w="12700">
            <a:solidFill>
              <a:srgbClr val="1A1F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0" y="16276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SCAN OUTPUT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19202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× apple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0" y="25146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4CC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284 kcal</a:t>
            </a:r>
            <a:r>
              <a:rPr lang="en-US" sz="1300" dirty="0">
                <a:solidFill>
                  <a:srgbClr val="AA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for  </a:t>
            </a: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 g portion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0" y="3063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 36</a:t>
            </a:r>
            <a:r>
              <a:rPr lang="en-US" sz="1200" dirty="0">
                <a:solidFill>
                  <a:srgbClr val="AAB3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(low glycemic index)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98080" y="352044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44CC44"/>
          </a:solidFill>
          <a:ln w="12700">
            <a:solidFill>
              <a:srgbClr val="44CC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98080" y="3566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41148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1360" y="639165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ve Screenshots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RESULTS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On-Device Recognition in Action</a:t>
            </a:r>
            <a:endParaRPr lang="en-US" sz="2600" dirty="0"/>
          </a:p>
        </p:txBody>
      </p:sp>
      <p:pic>
        <p:nvPicPr>
          <p:cNvPr id="6" name="Screenshot Apples"/>
          <p:cNvPicPr/>
          <p:nvPr/>
        </p:nvPicPr>
        <p:blipFill>
          <a:blip r:embed="rId2"/>
          <a:stretch>
            <a:fillRect/>
          </a:stretch>
        </p:blipFill>
        <p:spPr>
          <a:xfrm>
            <a:off x="2392625" y="1252728"/>
            <a:ext cx="2002250" cy="4480560"/>
          </a:xfrm>
          <a:prstGeom prst="roundRect">
            <a:avLst>
              <a:gd name="adj" fmla="val 4000"/>
            </a:avLst>
          </a:prstGeom>
        </p:spPr>
      </p:pic>
      <p:pic>
        <p:nvPicPr>
          <p:cNvPr id="7" name="Screenshot Rye Bread"/>
          <p:cNvPicPr/>
          <p:nvPr/>
        </p:nvPicPr>
        <p:blipFill>
          <a:blip r:embed="rId3"/>
          <a:stretch>
            <a:fillRect/>
          </a:stretch>
        </p:blipFill>
        <p:spPr>
          <a:xfrm>
            <a:off x="5094875" y="1252728"/>
            <a:ext cx="2002250" cy="4480560"/>
          </a:xfrm>
          <a:prstGeom prst="roundRect">
            <a:avLst>
              <a:gd name="adj" fmla="val 4000"/>
            </a:avLst>
          </a:prstGeom>
        </p:spPr>
      </p:pic>
      <p:pic>
        <p:nvPicPr>
          <p:cNvPr id="8" name="Screenshot Unknown Food"/>
          <p:cNvPicPr/>
          <p:nvPr/>
        </p:nvPicPr>
        <p:blipFill>
          <a:blip r:embed="rId4"/>
          <a:stretch>
            <a:fillRect/>
          </a:stretch>
        </p:blipFill>
        <p:spPr>
          <a:xfrm>
            <a:off x="7797125" y="1252728"/>
            <a:ext cx="2002250" cy="4480560"/>
          </a:xfrm>
          <a:prstGeom prst="roundRect">
            <a:avLst>
              <a:gd name="adj" fmla="val 4000"/>
            </a:avLst>
          </a:prstGeom>
        </p:spPr>
      </p:pic>
      <p:sp>
        <p:nvSpPr>
          <p:cNvPr id="9" name="Caption 1"/>
          <p:cNvSpPr/>
          <p:nvPr/>
        </p:nvSpPr>
        <p:spPr>
          <a:xfrm>
            <a:off x="2092625" y="5794248"/>
            <a:ext cx="260225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× Apple — detector counts items (100%)</a:t>
            </a:r>
            <a:endParaRPr lang="en-US" sz="1200" dirty="0"/>
          </a:p>
        </p:txBody>
      </p:sp>
      <p:sp>
        <p:nvSpPr>
          <p:cNvPr id="10" name="Caption 2"/>
          <p:cNvSpPr/>
          <p:nvPr/>
        </p:nvSpPr>
        <p:spPr>
          <a:xfrm>
            <a:off x="4794875" y="5794248"/>
            <a:ext cx="260225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Rye bread— GI 75 risk flag</a:t>
            </a:r>
            <a:endParaRPr lang="en-US" sz="1200" dirty="0"/>
          </a:p>
        </p:txBody>
      </p:sp>
      <p:sp>
        <p:nvSpPr>
          <p:cNvPr id="11" name="Caption 3"/>
          <p:cNvSpPr/>
          <p:nvPr/>
        </p:nvSpPr>
        <p:spPr>
          <a:xfrm>
            <a:off x="7497125" y="5794248"/>
            <a:ext cx="260225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Out-of-vocabulary → UNKNOWN</a:t>
            </a:r>
            <a:endParaRPr lang="en-US" sz="1200" dirty="0"/>
          </a:p>
        </p:txBody>
      </p:sp>
      <p:sp>
        <p:nvSpPr>
          <p:cNvPr id="12" name="Page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2C6D64D-85D1-9160-7D5C-48BC58928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873" y="587829"/>
            <a:ext cx="3478365" cy="52997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6831139-F1B4-2393-9FE1-DE855DD911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7213" y="587828"/>
            <a:ext cx="3959050" cy="52997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16BC5C-A907-B397-9EE7-911E976D53EB}"/>
              </a:ext>
            </a:extLst>
          </p:cNvPr>
          <p:cNvSpPr txBox="1"/>
          <p:nvPr/>
        </p:nvSpPr>
        <p:spPr>
          <a:xfrm>
            <a:off x="136431" y="83976"/>
            <a:ext cx="1679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Previous output</a:t>
            </a:r>
          </a:p>
        </p:txBody>
      </p:sp>
    </p:spTree>
    <p:extLst>
      <p:ext uri="{BB962C8B-B14F-4D97-AF65-F5344CB8AC3E}">
        <p14:creationId xmlns:p14="http://schemas.microsoft.com/office/powerpoint/2010/main" val="3539828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2440"/>
          </a:solidFill>
          <a:ln w="12700">
            <a:solidFill>
              <a:srgbClr val="0F24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463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Limitations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40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82296" cy="4480560"/>
          </a:xfrm>
          <a:prstGeom prst="rect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52704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limitations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1874520"/>
            <a:ext cx="5074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Classifier vocabulary = 2,024 prepared dishes; loose packaged snacks (e.g., peanuts in a container) are out-of-vocabulary.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detector counts 15 food types (fruits, bread, pizza…) — counting is limited to those.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opens the camera to take a photo (not an instant live-frame grab) — a workaround for the GL-surface capture limit.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flow still uses USDA per-100g only (no portion).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food panel per scan (multi-item plate = stretch goal).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blurRad="76200" dist="25400" dir="5400000" algn="bl" rotWithShape="0">
              <a:srgbClr val="B8C0C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82296" cy="4480560"/>
          </a:xfrm>
          <a:prstGeom prst="rect">
            <a:avLst/>
          </a:prstGeom>
          <a:solidFill>
            <a:srgbClr val="2E7BFF"/>
          </a:solidFill>
          <a:ln w="12700">
            <a:solidFill>
              <a:srgbClr val="2E7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73368" y="1527048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4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73368" y="1874520"/>
            <a:ext cx="51206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"healthier alternative" as an AR overlay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Per-item detection &amp; multiple AR panels per plate.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AR-geometry portion estimation (box size × plane distance → grams).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iOS HealthKit alongside Google Fit.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 a detector on a broader food set (incl. snacks &amp; packaged foods).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F2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testing for recognition accuracy &amp; AR usability (Goal 3).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2B5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6200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AEB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a meal → on-device AI identifies it and counts items → offline table provides nutrition → GI + risk → AR overlay. Nothing leaves the phone. Delivered: two local TFLite models · privacy-hardened SCAN pipeline · item counting · scanned photo in details · unknown-food handling.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88</TotalTime>
  <Words>816</Words>
  <Application>Microsoft Office PowerPoint</Application>
  <PresentationFormat>Widescreen</PresentationFormat>
  <Paragraphs>120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 Diet Monitoring — Gemini Vision Integration</dc:title>
  <dc:subject>PptxGenJS Presentation</dc:subject>
  <dc:creator>AR Diet Monitoring</dc:creator>
  <cp:lastModifiedBy>Afroz, Umme</cp:lastModifiedBy>
  <cp:revision>12</cp:revision>
  <dcterms:created xsi:type="dcterms:W3CDTF">2026-06-04T15:35:32Z</dcterms:created>
  <dcterms:modified xsi:type="dcterms:W3CDTF">2026-06-11T16:16:44Z</dcterms:modified>
</cp:coreProperties>
</file>